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8"/>
    <p:sldId id="270" r:id="rId19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8" Type="http://schemas.openxmlformats.org/officeDocument/2006/relationships/slide" Target="slides/slide14.xml"/>
  <Relationship Id="rId19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D2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43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INFO 432 — GROUP 5 FINAL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331720"/>
            <a:ext cx="9692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Gaming vs. Academic Performance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566928" y="5074920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566928" y="5257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Jeffrey Cheung   ·   Drew Jones   ·   Danny Eapen   ·   Joel Thomas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Three questions, one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College students are told gaming </a:t>
            </a:r>
            <a:r>
              <a:rPr b="0" i="1" lang="en-US" sz="14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“ruins your grades.”</a:t>
            </a:r>
            <a:r>
              <a:rPr b="0" i="0" lang="en-US" sz="14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 That claim gets repeated far more often than it gets measured — so we measured it, </a:t>
            </a:r>
            <a:r>
              <a:rPr lang="en-US" sz="1450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0" i="0" lang="en-US" sz="14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 8,000 student records.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423160"/>
            <a:ext cx="3364992" cy="3749040"/>
          </a:xfrm>
          <a:prstGeom prst="roundRect">
            <a:avLst>
              <a:gd fmla="val 217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41248" y="2715768"/>
            <a:ext cx="566928" cy="5669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41248" y="271576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41248" y="3474720"/>
            <a:ext cx="27797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Which factors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actually relate to grades?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41248" y="4480560"/>
            <a:ext cx="27797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Gaming, study, sleep, attendance, and a self-reported addiction score</a:t>
            </a:r>
            <a:r>
              <a:rPr lang="en-US" sz="1250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0" lang="en-US" sz="12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five candidates, tested for a statistically significant relationship with grades.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69664" y="2423160"/>
            <a:ext cx="3364992" cy="3749040"/>
          </a:xfrm>
          <a:prstGeom prst="roundRect">
            <a:avLst>
              <a:gd fmla="val 217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462272" y="2715768"/>
            <a:ext cx="566928" cy="56692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62272" y="271576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62272" y="3474720"/>
            <a:ext cx="27797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Where are the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thresholds?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462272" y="4480560"/>
            <a:ext cx="27797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A correlation says a relationship exists, not where it starts to bite. We look for the exact hours-per-day where average performance visibly steps down.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790688" y="2423160"/>
            <a:ext cx="3364992" cy="3749040"/>
          </a:xfrm>
          <a:prstGeom prst="roundRect">
            <a:avLst>
              <a:gd fmla="val 217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083296" y="2715768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083296" y="271576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083296" y="3474720"/>
            <a:ext cx="27797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How well can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grades be predicted?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083296" y="4480560"/>
            <a:ext cx="27797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We build and compare regression models, then score them on students the model never saw</a:t>
            </a:r>
            <a:r>
              <a:rPr lang="en-US" sz="1250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0" lang="en-US" sz="12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so the reported accuracy is honest.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The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Kaggle: </a:t>
            </a:r>
            <a:r>
              <a:rPr b="1" i="1" lang="en-US" sz="14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 vs Academic Performance</a:t>
            </a:r>
            <a:r>
              <a:rPr b="0" i="0" lang="en-US" sz="14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 — 8,000 student records, 14 columns covering demographics, gaming habits, study habits, sleep, attendance, stress, and a final grade.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194560"/>
            <a:ext cx="3200400" cy="1417320"/>
          </a:xfrm>
          <a:prstGeom prst="roundRect">
            <a:avLst>
              <a:gd fmla="val 516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48640" y="23042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8,000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1272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STUDENT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069080" y="2194560"/>
            <a:ext cx="3200400" cy="1417320"/>
          </a:xfrm>
          <a:prstGeom prst="roundRect">
            <a:avLst>
              <a:gd fmla="val 516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069080" y="23042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069080" y="31272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COLUMNS OF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589520" y="2194560"/>
            <a:ext cx="3200400" cy="1417320"/>
          </a:xfrm>
          <a:prstGeom prst="roundRect">
            <a:avLst>
              <a:gd fmla="val 516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589520" y="23042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589520" y="31272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What the 14 columns cover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4480560"/>
            <a:ext cx="54864" cy="777240"/>
          </a:xfrm>
          <a:prstGeom prst="rect">
            <a:avLst/>
          </a:prstGeom>
          <a:solidFill>
            <a:srgbClr val="637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4434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Identity &amp; demographics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47548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student_id, age, gender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989320" y="4480560"/>
            <a:ext cx="54864" cy="7772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172200" y="4434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Gaming behavior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72200" y="47548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gaming_hours, gaming_genre, device_usage, reaction_time_ms, addiction_score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5486400"/>
            <a:ext cx="54864" cy="777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31520" y="54406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Academic behavior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31520" y="57607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study_hours, attendance, grades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89320" y="5486400"/>
            <a:ext cx="54864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172200" y="54406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Wellbeing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72200" y="57607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sleep_hours, social_activity, stress_level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The grade column runs past 100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134 records (1.68%) sit above the ceiling. We checked whether they're errors or genuine top performers — then capped rather than dropped them.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205740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04672" y="22585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Before cleaning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04672" y="26974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788920" y="26974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0.00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804672" y="3099816"/>
            <a:ext cx="3008376" cy="0"/>
          </a:xfrm>
          <a:prstGeom prst="straightConnector1">
            <a:avLst/>
          </a:prstGeom>
          <a:noFill/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804672" y="3154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788920" y="31546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67.07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804672" y="3557016"/>
            <a:ext cx="3008376" cy="0"/>
          </a:xfrm>
          <a:prstGeom prst="straightConnector1">
            <a:avLst/>
          </a:prstGeom>
          <a:noFill/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804672" y="36118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788920" y="36118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66.18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804672" y="4014216"/>
            <a:ext cx="3008376" cy="0"/>
          </a:xfrm>
          <a:prstGeom prst="straightConnector1">
            <a:avLst/>
          </a:prstGeom>
          <a:noFill/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804672" y="40690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Maximum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788920" y="40690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118.63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804672" y="4471416"/>
            <a:ext cx="3008376" cy="0"/>
          </a:xfrm>
          <a:prstGeom prst="straightConnector1">
            <a:avLst/>
          </a:prstGeom>
          <a:noFill/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804672" y="45262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Records over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788920" y="45262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134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6"/>
          <p:cNvCxnSpPr/>
          <p:nvPr/>
        </p:nvCxnSpPr>
        <p:spPr>
          <a:xfrm>
            <a:off x="804672" y="4928616"/>
            <a:ext cx="3008376" cy="0"/>
          </a:xfrm>
          <a:prstGeom prst="straightConnector1">
            <a:avLst/>
          </a:prstGeom>
          <a:noFill/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6"/>
          <p:cNvSpPr/>
          <p:nvPr/>
        </p:nvSpPr>
        <p:spPr>
          <a:xfrm>
            <a:off x="804672" y="49834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Percent of sample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788920" y="498348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1.68%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270248" y="205740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26280" y="225856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Over-100 records: errors, or top performers?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26280" y="2926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870448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Over 100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784848" y="292608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26280" y="3291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Gaming hrs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870448" y="32918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2.66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784848" y="329184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4.11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26280" y="3657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Study hrs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870448" y="3657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8.65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784848" y="36576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5.41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26280" y="4023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Sleep hrs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870448" y="4023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7.37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784848" y="402336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6.48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26280" y="4389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870448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84.3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784848" y="438912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79.8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26280" y="47548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Addiction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870448" y="4754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7.20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784848" y="475488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9.95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26280" y="5257800"/>
            <a:ext cx="30083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They study more, game less, and score lower on addiction — the profile of strong students, not data errors.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991856" y="205740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0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9016" y="2194560"/>
            <a:ext cx="324612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What actually moves with grades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417320"/>
            <a:ext cx="5120640" cy="5074920"/>
          </a:xfrm>
          <a:prstGeom prst="roundRect">
            <a:avLst>
              <a:gd fmla="val 1441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1.pn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54480"/>
            <a:ext cx="484632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598932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Correlations worth naming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989320" y="18745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study_hours → grades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9418320" y="18745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+0.733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989320" y="240487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gaming_hours → grades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418320" y="240487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−0.552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989320" y="293522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addiction_score → grades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418320" y="293522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−0.496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989320" y="346557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sleep_hours → grades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418320" y="3465576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+0.249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989320" y="399592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attendance → grades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418320" y="399592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+0.130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989320" y="4617720"/>
            <a:ext cx="5623560" cy="1691640"/>
          </a:xfrm>
          <a:prstGeom prst="roundRect">
            <a:avLst>
              <a:gd fmla="val 4324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245352" y="4782312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addiction_score correlates 0.909 with gaming_hours</a:t>
            </a:r>
            <a:r>
              <a:rPr b="0" i="0" lang="en-US" sz="130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 — those two columns are close to the same measurement. That collinearity becomes the central issue in the regression section.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Grades vs. each factor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129844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Gaming pulls grades down; study time pulls them up — the two dominant, opposite-direction relationships in the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62560" y="1828800"/>
            <a:ext cx="274320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2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00" y="1920240"/>
            <a:ext cx="25603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3270352" y="1828800"/>
            <a:ext cx="274320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3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1792" y="1920240"/>
            <a:ext cx="25603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6178144" y="1828800"/>
            <a:ext cx="274320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6.png" id="170" name="Google Shape;17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9584" y="1920240"/>
            <a:ext cx="25603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9085936" y="1828800"/>
            <a:ext cx="274320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4.png" id="172" name="Google Shape;17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7376" y="1920240"/>
            <a:ext cx="25603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362560" y="4572000"/>
            <a:ext cx="5650992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7.png" id="174" name="Google Shape;17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288" y="4681728"/>
            <a:ext cx="5431536" cy="188366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178144" y="4572000"/>
            <a:ext cx="5650992" cy="2103120"/>
          </a:xfrm>
          <a:prstGeom prst="roundRect">
            <a:avLst>
              <a:gd fmla="val 347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434176" y="4773168"/>
            <a:ext cx="5138928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addiction_score and gaming_hours </a:t>
            </a: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both bend rather than run straight — the true relationship is curved, not linear, which the modeling section confirms. </a:t>
            </a: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Stress level </a:t>
            </a: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runs the “wrong” way too: students under more self-reported stress score higher, most likely because heavier academic pressure comes with more studying, not because stress itself helps.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STATISTICAL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Why we replaced ANOVA with correlation tests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With near-continuous predictors, ANOVA's groups hold almost nobody — attendance has 3,472 distinct values across 8,000 students, just 2.3 per group.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8640" y="2148840"/>
            <a:ext cx="228600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2834640" y="2148840"/>
            <a:ext cx="192024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ANOVA p-value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754880" y="2148840"/>
            <a:ext cx="187452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ANOVA says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629400" y="2148840"/>
            <a:ext cx="196596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p-value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595360" y="2148840"/>
            <a:ext cx="192024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says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2606040"/>
            <a:ext cx="228600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834640" y="2606040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&lt; 1e-300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606040"/>
            <a:ext cx="187452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629400" y="2606040"/>
            <a:ext cx="196596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&lt; 1e-300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595360" y="2606040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3136392"/>
            <a:ext cx="2286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study_hours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834640" y="3136392"/>
            <a:ext cx="1920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&lt; 1e-300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54880" y="3136392"/>
            <a:ext cx="1874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629400" y="3136392"/>
            <a:ext cx="19659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&lt; 1e-300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95360" y="3136392"/>
            <a:ext cx="1920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3666744"/>
            <a:ext cx="228600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sleep_hours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2834640" y="3666744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5.65e-36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54880" y="3666744"/>
            <a:ext cx="187452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629400" y="3666744"/>
            <a:ext cx="196596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1.10e-113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595360" y="3666744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4197096"/>
            <a:ext cx="2286000" cy="530352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834640" y="4197096"/>
            <a:ext cx="1920240" cy="530352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0.114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754880" y="4197096"/>
            <a:ext cx="1874520" cy="530352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Fail to reject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629400" y="4197096"/>
            <a:ext cx="1965960" cy="530352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1.52e-31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595360" y="4197096"/>
            <a:ext cx="1920240" cy="530352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4727448"/>
            <a:ext cx="228600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addiction_score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834640" y="4727448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5.26e-129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754880" y="4727448"/>
            <a:ext cx="187452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629400" y="4727448"/>
            <a:ext cx="196596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&lt; 1e-300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595360" y="4727448"/>
            <a:ext cx="1920240" cy="5303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Reject H0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48640" y="5486400"/>
            <a:ext cx="10424160" cy="1051560"/>
          </a:xfrm>
          <a:prstGeom prst="roundRect">
            <a:avLst>
              <a:gd fmla="val 695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22960" y="5486400"/>
            <a:ext cx="9875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Attendance is significant </a:t>
            </a: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— the opposite of what the original ANOVA concluded. </a:t>
            </a: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Addiction score</a:t>
            </a: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 is significant here too, but that fades once other factors are controlled for — see the modeling section.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THRESHOLD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Where grades actually split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A regression tree picks its own cutoffs. It splits on study hours first, then gaming hours — at a different value in each branch.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1828800"/>
            <a:ext cx="7863840" cy="4709160"/>
          </a:xfrm>
          <a:prstGeom prst="roundRect">
            <a:avLst>
              <a:gd fmla="val 1553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09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65960"/>
            <a:ext cx="758952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8686800" y="1828800"/>
            <a:ext cx="2926080" cy="4709160"/>
          </a:xfrm>
          <a:prstGeom prst="roundRect">
            <a:avLst>
              <a:gd fmla="val 25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915400" y="2057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Root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915400" y="2331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study_hours &lt; 5.7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10"/>
          <p:cNvCxnSpPr/>
          <p:nvPr/>
        </p:nvCxnSpPr>
        <p:spPr>
          <a:xfrm>
            <a:off x="8915400" y="283464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0"/>
          <p:cNvSpPr/>
          <p:nvPr/>
        </p:nvSpPr>
        <p:spPr>
          <a:xfrm>
            <a:off x="8915400" y="29718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Second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915400" y="324612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gaming_hours ≥ 4.6 (low-study branch)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gaming_hours ≥ 3.9 (high-study branch)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0"/>
          <p:cNvCxnSpPr/>
          <p:nvPr/>
        </p:nvCxnSpPr>
        <p:spPr>
          <a:xfrm>
            <a:off x="8915400" y="416052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0"/>
          <p:cNvSpPr/>
          <p:nvPr/>
        </p:nvSpPr>
        <p:spPr>
          <a:xfrm>
            <a:off x="8915400" y="4343400"/>
            <a:ext cx="2468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finding: </a:t>
            </a: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the point where gaming starts to cost depends on how much a student studies — the definition of an interaction effect.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THRESHOLD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Binned averages confirm — and quantify — the cutoffs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Mean grade per bin (95% CI, letter grade labeled) cross-checks the tree, then the steepest drop names each threshold in plain language.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4864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0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585216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1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960128" y="4617710"/>
            <a:ext cx="21489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108968" y="4617710"/>
            <a:ext cx="233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40688" y="4617710"/>
            <a:ext cx="137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81228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50392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960128" y="494689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addiction_score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108968" y="494689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(5,10] → (10,15]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40688" y="494689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−13.4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81228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C → 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50392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60128" y="531265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gaming_hours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108968" y="531265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(1,2] → (2,3]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40688" y="531265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−7.9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1228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B- → 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50392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60128" y="567841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108968" y="567841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(85,90]→(90,95]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40688" y="567841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81228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D+→D+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50392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60128" y="6044174"/>
            <a:ext cx="21489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sleep_hours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108968" y="6044174"/>
            <a:ext cx="233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(7,8] → (8,9]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40688" y="6044174"/>
            <a:ext cx="137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+2.7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81228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C-→ 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50392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960128" y="640993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study_hours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108968" y="640993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(8,9] → (9,10]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440688" y="640993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+3.8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81228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B → A-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50392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PREDICTIVE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Five candidate models, scored honestly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Each model is trained on 80% of students and scored on the other 20% — students it never saw — so the accuracy is honest.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840480" y="2194560"/>
            <a:ext cx="146304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303520" y="2194560"/>
            <a:ext cx="192024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RMSE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7223760" y="2194560"/>
            <a:ext cx="182880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RMSE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052560" y="2194560"/>
            <a:ext cx="1737360" cy="4572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48640" y="2651760"/>
            <a:ext cx="32918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study_only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3840480" y="2651760"/>
            <a:ext cx="14630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303520" y="2651760"/>
            <a:ext cx="19202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15.153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223760" y="2651760"/>
            <a:ext cx="182880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15.107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052560" y="2651760"/>
            <a:ext cx="173736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0.535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48640" y="3200400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main_effects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840480" y="3200400"/>
            <a:ext cx="14630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303520" y="3200400"/>
            <a:ext cx="1920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6.332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7223760" y="320040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6.187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9052560" y="3200400"/>
            <a:ext cx="1737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0.922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8640" y="3749040"/>
            <a:ext cx="32918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with_curves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840480" y="3749040"/>
            <a:ext cx="14630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303520" y="3749040"/>
            <a:ext cx="192024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6.194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7223760" y="3749040"/>
            <a:ext cx="182880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6.045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9052560" y="3749040"/>
            <a:ext cx="173736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0.926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48640" y="4297680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with_interaction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840480" y="4297680"/>
            <a:ext cx="14630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303520" y="4297680"/>
            <a:ext cx="1920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5.936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223760" y="429768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5.850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9052560" y="4297680"/>
            <a:ext cx="1737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0.930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4846320"/>
            <a:ext cx="3291840" cy="5486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no_addiction  ★ chosen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840480" y="4846320"/>
            <a:ext cx="1463040" cy="5486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303520" y="4846320"/>
            <a:ext cx="1920240" cy="5486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5.938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223760" y="4846320"/>
            <a:ext cx="1828800" cy="5486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5.851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9052560" y="4846320"/>
            <a:ext cx="1737360" cy="5486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0.930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48640" y="5623560"/>
            <a:ext cx="10424160" cy="868680"/>
          </a:xfrm>
          <a:prstGeom prst="roundRect">
            <a:avLst>
              <a:gd fmla="val 842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822960" y="562356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Not simply the lowest error: </a:t>
            </a:r>
            <a:r>
              <a:rPr b="0" i="0" lang="en-US" sz="130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two models land within 0.001 of each other — noise, not a real difference. We take the fewest terms that gets within 1% of the best error.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3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PREDICTIVE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final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grades ≈ 11.64 − 4.53·gaming + 4.71·study − 0.35·gaming² + 3.70·sleep + 0.28·attendance + 0.38·(gaming×study)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8640" y="21488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0B8"/>
                </a:solidFill>
                <a:latin typeface="Calibri"/>
                <a:ea typeface="Calibri"/>
                <a:cs typeface="Calibri"/>
                <a:sym typeface="Calibri"/>
              </a:rPr>
              <a:t>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880360" y="2148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0B8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251960" y="2148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0B8"/>
                </a:solidFill>
                <a:latin typeface="Calibri"/>
                <a:ea typeface="Calibri"/>
                <a:cs typeface="Calibri"/>
                <a:sym typeface="Calibri"/>
              </a:rPr>
              <a:t>Std.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623560" y="21488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0B8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48640" y="2560320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Intercept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2880360" y="256032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11.639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251960" y="256032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0.666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623560" y="256032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13"/>
          <p:cNvCxnSpPr/>
          <p:nvPr/>
        </p:nvCxnSpPr>
        <p:spPr>
          <a:xfrm>
            <a:off x="548640" y="2980944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3"/>
          <p:cNvSpPr/>
          <p:nvPr/>
        </p:nvSpPr>
        <p:spPr>
          <a:xfrm>
            <a:off x="548640" y="2980944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gaming_hours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2880360" y="2980944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−4.534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251960" y="2980944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0.133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623560" y="2980944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3"/>
          <p:cNvCxnSpPr/>
          <p:nvPr/>
        </p:nvCxnSpPr>
        <p:spPr>
          <a:xfrm>
            <a:off x="548640" y="3401568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3"/>
          <p:cNvSpPr/>
          <p:nvPr/>
        </p:nvSpPr>
        <p:spPr>
          <a:xfrm>
            <a:off x="548640" y="3401568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2880360" y="3401568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+4.715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251960" y="3401568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0.053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623560" y="340156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3"/>
          <p:cNvCxnSpPr/>
          <p:nvPr/>
        </p:nvCxnSpPr>
        <p:spPr>
          <a:xfrm>
            <a:off x="548640" y="3822192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3"/>
          <p:cNvSpPr/>
          <p:nvPr/>
        </p:nvSpPr>
        <p:spPr>
          <a:xfrm>
            <a:off x="548640" y="3822192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gaming_hours²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2880360" y="3822192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−0.349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251960" y="3822192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0.014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623560" y="3822192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>
            <a:off x="548640" y="4242816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3"/>
          <p:cNvSpPr/>
          <p:nvPr/>
        </p:nvSpPr>
        <p:spPr>
          <a:xfrm>
            <a:off x="548640" y="4242816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sleep_hours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2880360" y="4242816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+3.704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251960" y="4242816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0.047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623560" y="4242816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3"/>
          <p:cNvCxnSpPr/>
          <p:nvPr/>
        </p:nvCxnSpPr>
        <p:spPr>
          <a:xfrm>
            <a:off x="548640" y="4663440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3"/>
          <p:cNvSpPr/>
          <p:nvPr/>
        </p:nvSpPr>
        <p:spPr>
          <a:xfrm>
            <a:off x="548640" y="4663440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880360" y="466344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+0.280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251960" y="466344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0.006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623560" y="466344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13"/>
          <p:cNvCxnSpPr/>
          <p:nvPr/>
        </p:nvCxnSpPr>
        <p:spPr>
          <a:xfrm>
            <a:off x="548640" y="5084064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3"/>
          <p:cNvSpPr/>
          <p:nvPr/>
        </p:nvSpPr>
        <p:spPr>
          <a:xfrm>
            <a:off x="548640" y="5084064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gaming × study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880360" y="5084064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+0.380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251960" y="5084064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0.011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5623560" y="5084064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&lt; .001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3"/>
          <p:cNvCxnSpPr/>
          <p:nvPr/>
        </p:nvCxnSpPr>
        <p:spPr>
          <a:xfrm>
            <a:off x="548640" y="5504688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3"/>
          <p:cNvSpPr/>
          <p:nvPr/>
        </p:nvSpPr>
        <p:spPr>
          <a:xfrm>
            <a:off x="7269480" y="2148840"/>
            <a:ext cx="4373575" cy="1234440"/>
          </a:xfrm>
          <a:prstGeom prst="roundRect">
            <a:avLst>
              <a:gd fmla="val 5926" name="adj"/>
            </a:avLst>
          </a:prstGeom>
          <a:solidFill>
            <a:srgbClr val="1D2E4A"/>
          </a:solidFill>
          <a:ln cap="flat" cmpd="sng" w="12700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7543800" y="2286000"/>
            <a:ext cx="38249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A9D8F"/>
                </a:solidFill>
                <a:latin typeface="Cambria"/>
                <a:ea typeface="Cambria"/>
                <a:cs typeface="Cambria"/>
                <a:sym typeface="Cambria"/>
              </a:rPr>
              <a:t>0.9265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7543800" y="3017520"/>
            <a:ext cx="38249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ADJUSTED R²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7269480" y="3611880"/>
            <a:ext cx="4373575" cy="1234440"/>
          </a:xfrm>
          <a:prstGeom prst="roundRect">
            <a:avLst>
              <a:gd fmla="val 5926" name="adj"/>
            </a:avLst>
          </a:prstGeom>
          <a:solidFill>
            <a:srgbClr val="1D2E4A"/>
          </a:solidFill>
          <a:ln cap="flat" cmpd="sng" w="12700">
            <a:solidFill>
              <a:srgbClr val="2E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543800" y="3749040"/>
            <a:ext cx="38249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A9D8F"/>
                </a:solidFill>
                <a:latin typeface="Cambria"/>
                <a:ea typeface="Cambria"/>
                <a:cs typeface="Cambria"/>
                <a:sym typeface="Cambria"/>
              </a:rPr>
              <a:t>6.03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7543800" y="4480560"/>
            <a:ext cx="38249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2DB"/>
                </a:solidFill>
                <a:latin typeface="Calibri"/>
                <a:ea typeface="Calibri"/>
                <a:cs typeface="Calibri"/>
                <a:sym typeface="Calibri"/>
              </a:rPr>
              <a:t>RESIDUAL SE (GRADE PTS)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269480" y="5120640"/>
            <a:ext cx="4373575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Fit on all 8,000 students</a:t>
            </a:r>
            <a:r>
              <a:rPr b="0" i="0" lang="en-US" sz="1250" u="none" cap="none" strike="noStrike">
                <a:solidFill>
                  <a:srgbClr val="D6E0EE"/>
                </a:solidFill>
                <a:latin typeface="Calibri"/>
                <a:ea typeface="Calibri"/>
                <a:cs typeface="Calibri"/>
                <a:sym typeface="Calibri"/>
              </a:rPr>
              <a:t> after refitting the chosen structure. gaming_hours × study_hours confirms the tree's finding: the gaming penalty is worse for students who study less.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0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PREDICTIVE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Does the model actually hold up?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Held-out test RMSE of 5.85 grade points, test R² of 0.930. Train and test error stay close — the sign of a model that isn't overfitting.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32308" y="1920240"/>
            <a:ext cx="3520440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8.png" id="392" name="Google Shape;3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036" y="2029968"/>
            <a:ext cx="3300984" cy="27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/>
          <p:nvPr/>
        </p:nvSpPr>
        <p:spPr>
          <a:xfrm>
            <a:off x="4335628" y="1920240"/>
            <a:ext cx="3520440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6.png" id="394" name="Google Shape;3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5356" y="2029968"/>
            <a:ext cx="3300984" cy="27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4"/>
          <p:cNvSpPr/>
          <p:nvPr/>
        </p:nvSpPr>
        <p:spPr>
          <a:xfrm>
            <a:off x="8038948" y="1920240"/>
            <a:ext cx="3520440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7.png" id="396" name="Google Shape;3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8676" y="2029968"/>
            <a:ext cx="3300984" cy="27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632308" y="4983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Predicted vs. actual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335628" y="4983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Residuals vs. fitted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8038948" y="4983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Normal Q-Q plot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fmla="val 727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573 students (7.2%) </a:t>
            </a:r>
            <a:r>
              <a:rPr b="0" i="0" lang="en-US" sz="12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sit exactly on the 100-point cap and are flagged separately (orange). Their residual is forced negative by the cap, not by model error — mixing them into the trend line would misrepresent the fit.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What we found — and where to be careful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48640" y="160020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48640" y="2057400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777240" y="1984248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Which factors relate to grades?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777240" y="2258568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Study, gaming, sleep and attendance are all significant (p &lt; .05), individually and jointly.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777240" y="2697480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Which matters most?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777240" y="2971800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Study hours — the largest single effect.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548640" y="3483864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777240" y="3410712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What about addiction score?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777240" y="3685032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Significant alone, but fades once other factors are controlled for — it's a proxy for gaming (r = 0.91).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548640" y="4197096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777240" y="4123944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Where are the thresholds?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777240" y="4398264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Steepest drop: addiction_score at (5,10]→(10,15], a 13.4-point fall.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48640" y="4910328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777240" y="4837176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Is it linear?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777240" y="5111496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 — gaming and addiction both bend, and the gaming penalty is worse for low-study students.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548640" y="5623560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777240" y="5550408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How accurate?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777240" y="5824728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Held-out test RMSE 5.85 points, test R² 0.930 — not overfitting.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178040" y="16002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7178040" y="1984248"/>
            <a:ext cx="4480560" cy="877824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7178040" y="2020824"/>
            <a:ext cx="54864" cy="80467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7379208" y="20574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Censored outcome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7379208" y="2313432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573 students (7.2%) sit exactly on the 100-point cap; the model can't tell a would-be 101 from a would-be 118.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7178040" y="2971800"/>
            <a:ext cx="4480560" cy="877824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7178040" y="3008376"/>
            <a:ext cx="54864" cy="80467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7379208" y="30449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Likely simulated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7379208" y="3300984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An adjusted R² near 0.93 and a 0.91 correlation between “independent” variables are too clean for real surveys.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7178040" y="3959352"/>
            <a:ext cx="4480560" cy="877824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7178040" y="3995928"/>
            <a:ext cx="54864" cy="80467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7379208" y="40325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Observational, not causal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379208" y="4288536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Gamers also study less. The coefficients describe association, not proof that cutting gaming raises grades.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7178040" y="4946904"/>
            <a:ext cx="4480560" cy="877824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7178040" y="4983480"/>
            <a:ext cx="54864" cy="80467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7379208" y="502005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Self-reported measures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7379208" y="5276088"/>
            <a:ext cx="4114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Gaming, study, sleep and addiction score are exactly the variables misreported in surveys.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DIMENSIONAL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PCA &amp; CCA: collapsing 13 features into their strongest signals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PCA finds the axes that explain the most variance; CCA tests whether the gaming and lifestyle variable sets move together as groups.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4864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0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585216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1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960128" y="4617710"/>
            <a:ext cx="21489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108968" y="4617710"/>
            <a:ext cx="233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40688" y="4617710"/>
            <a:ext cx="137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81228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50392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960128" y="494689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PC1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108968" y="494689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gaming_hours, addiction_score, device_usage, reaction_time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40688" y="494689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39.7%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81228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Screen engagement axis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50392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Strongest PC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60128" y="531265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108968" y="531265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study_hours, grades, sleep_hours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40688" y="531265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15.7%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1228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Academic effort axis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50392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2nd strongest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60128" y="567841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PC1 + PC2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108968" y="567841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combined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40688" y="567841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55.4%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81228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Over half of total variance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50392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60128" y="6044174"/>
            <a:ext cx="21489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CCA pair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108968" y="6044174"/>
            <a:ext cx="233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gaming set ↔ lifestyle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40688" y="6044174"/>
            <a:ext cx="137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 = 0.035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81228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Essentially no relationship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50392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Groups don’t align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960128" y="640993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CCA pairs 2–4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108968" y="640993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remaining canonical pairs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440688" y="640993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 ≤ 0.014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81228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Negligible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50392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04672" y="42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UNSUPERVISED 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5243B"/>
                </a:solidFill>
                <a:latin typeface="Cambria"/>
                <a:ea typeface="Cambria"/>
                <a:cs typeface="Cambria"/>
                <a:sym typeface="Cambria"/>
              </a:rPr>
              <a:t>K-means &amp; hierarchical clustering reveal real student groups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7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3707E"/>
                </a:solidFill>
                <a:latin typeface="Calibri"/>
                <a:ea typeface="Calibri"/>
                <a:cs typeface="Calibri"/>
                <a:sym typeface="Calibri"/>
              </a:rPr>
              <a:t>Comparing raw vs. PCA-reduced features, then checking whether clusters found blind to grades still separate by performance.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4864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0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5852160" y="1965960"/>
            <a:ext cx="51663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B2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ages/img_11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2103120"/>
            <a:ext cx="489204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960128" y="4617710"/>
            <a:ext cx="21489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108968" y="4617710"/>
            <a:ext cx="233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40688" y="4617710"/>
            <a:ext cx="13716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81228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503928" y="4617710"/>
            <a:ext cx="1691700" cy="329100"/>
          </a:xfrm>
          <a:prstGeom prst="rect">
            <a:avLst/>
          </a:prstGeom>
          <a:solidFill>
            <a:srgbClr val="152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960128" y="494689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108968" y="494689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Raw (scaled)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40688" y="494689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0.147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81228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503928" y="494689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60128" y="5312654"/>
            <a:ext cx="21489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108968" y="5312654"/>
            <a:ext cx="233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PCA-reduced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40688" y="5312654"/>
            <a:ext cx="13716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0.220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1228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503928" y="5312654"/>
            <a:ext cx="1691700" cy="365700"/>
          </a:xfrm>
          <a:prstGeom prst="rect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Best overall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60128" y="567841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Hierarchical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108968" y="567841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Raw (scaled)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40688" y="567841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0.099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81228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503928" y="567841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Weakest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60128" y="6044174"/>
            <a:ext cx="21489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Hierarchical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108968" y="6044174"/>
            <a:ext cx="233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PCA-reduced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40688" y="6044174"/>
            <a:ext cx="1371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0.177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81228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503928" y="6044174"/>
            <a:ext cx="16917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960128" y="6409934"/>
            <a:ext cx="21489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243B"/>
                </a:solidFill>
                <a:latin typeface="Calibri"/>
                <a:ea typeface="Calibri"/>
                <a:cs typeface="Calibri"/>
                <a:sym typeface="Calibri"/>
              </a:rPr>
              <a:t>Cluster grades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108968" y="6409934"/>
            <a:ext cx="233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39.0 / 60.7 / 76.0 / 91.0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440688" y="6409934"/>
            <a:ext cx="13716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4 groups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81228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503928" y="6409934"/>
            <a:ext cx="1691700" cy="365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D2B3A"/>
                </a:solidFill>
                <a:latin typeface="Calibri"/>
                <a:ea typeface="Calibri"/>
                <a:cs typeface="Calibri"/>
                <a:sym typeface="Calibri"/>
              </a:rPr>
              <a:t>Matches real grade tiers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B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